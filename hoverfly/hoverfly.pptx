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265BAFE-7062-4364-8472-8612797BC0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946DF53-8037-49B2-9B65-563975A1A6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945F99E-CF0A-4D01-ADF5-273F4A8F38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6644EA6-F1BA-4182-802B-8F143BE7D5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396FCF3-87F4-4BE2-8B38-967BC4A855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94151B8-01F2-4603-A5BA-6624640230E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9FA69FA2-FC9F-4809-A901-F003863585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D7CD9358-9163-4EC1-BCF1-35FA74CB1D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71887D52-B4EF-4D89-9B7F-30D4963BCD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4A744ED3-9E93-4578-9AC8-EF2C12D8D0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06CB5B3D-D195-4083-864A-52D7B81371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181A625-B3C5-42C8-B6FB-0FED48A6B7E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A0E0D62-C54E-4AD3-B42A-0AD180833F3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D3724EF-4078-4A34-A3D8-FE82DD12982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F0D791E-652C-4C05-9E8E-22ACAFF9810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9FC40B7-0935-4D10-9DF4-9FA2358BB1B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F38C47A-8304-41EA-A912-E95CEC77E59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6787828-BED0-4DBF-8BDD-633A5E36EFB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1F6190D-1661-4463-B2C7-7FA407CDF32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1BA6CAF-B8FB-4523-9712-188F863DC0B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BE622D0-1D10-47EA-AEFF-96BC2CCC694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75129AF-4085-4B90-B535-B1995C13031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12"/>
          <p:cNvSpPr/>
          <p:nvPr/>
        </p:nvSpPr>
        <p:spPr>
          <a:xfrm>
            <a:off x="672840" y="3844800"/>
            <a:ext cx="6582960" cy="79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500" spc="-1" strike="noStrike">
                <a:solidFill>
                  <a:srgbClr val="5e6c81"/>
                </a:solidFill>
                <a:latin typeface="Aptos"/>
              </a:rPr>
              <a:t>Deterministic testing for applications with external APIs</a:t>
            </a:r>
            <a:endParaRPr b="0" lang="pt-B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13"/>
          <p:cNvSpPr/>
          <p:nvPr/>
        </p:nvSpPr>
        <p:spPr>
          <a:xfrm>
            <a:off x="749880" y="4983480"/>
            <a:ext cx="658296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Box 14"/>
          <p:cNvSpPr/>
          <p:nvPr/>
        </p:nvSpPr>
        <p:spPr>
          <a:xfrm>
            <a:off x="749880" y="5669280"/>
            <a:ext cx="694872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8996"/>
                </a:solidFill>
                <a:latin typeface="Aptos"/>
              </a:rPr>
              <a:t>Gabriel Passos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15"/>
          <p:cNvSpPr/>
          <p:nvPr/>
        </p:nvSpPr>
        <p:spPr>
          <a:xfrm>
            <a:off x="594360" y="6528960"/>
            <a:ext cx="73144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e6c81"/>
                </a:solidFill>
                <a:latin typeface="Aptos"/>
              </a:rPr>
              <a:t>HOVERFLY  /  API SIMULATION FOR TESTING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16"/>
          <p:cNvSpPr/>
          <p:nvPr/>
        </p:nvSpPr>
        <p:spPr>
          <a:xfrm>
            <a:off x="10972800" y="6492240"/>
            <a:ext cx="54792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5e6c81"/>
                </a:solidFill>
                <a:latin typeface="Aptos"/>
              </a:rPr>
              <a:t>01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900000" y="540000"/>
            <a:ext cx="6887160" cy="210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2"/>
          <p:cNvSpPr/>
          <p:nvPr/>
        </p:nvSpPr>
        <p:spPr>
          <a:xfrm>
            <a:off x="594360" y="658440"/>
            <a:ext cx="108806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263143"/>
                </a:solidFill>
                <a:latin typeface="Aptos"/>
              </a:rPr>
              <a:t>External dependencies make tests unpredictable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Rectangle 4"/>
          <p:cNvSpPr/>
          <p:nvPr/>
        </p:nvSpPr>
        <p:spPr>
          <a:xfrm>
            <a:off x="594360" y="1417320"/>
            <a:ext cx="10972080" cy="22320"/>
          </a:xfrm>
          <a:prstGeom prst="rect">
            <a:avLst/>
          </a:prstGeom>
          <a:solidFill>
            <a:srgbClr val="008996"/>
          </a:solidFill>
          <a:ln>
            <a:solidFill>
              <a:srgbClr val="3465a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" name="Rounded Rectangle 5"/>
          <p:cNvSpPr/>
          <p:nvPr/>
        </p:nvSpPr>
        <p:spPr>
          <a:xfrm>
            <a:off x="640080" y="1783080"/>
            <a:ext cx="3474000" cy="201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" name="TextBox 6"/>
          <p:cNvSpPr/>
          <p:nvPr/>
        </p:nvSpPr>
        <p:spPr>
          <a:xfrm>
            <a:off x="841320" y="1947600"/>
            <a:ext cx="30715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be680f"/>
                </a:solidFill>
                <a:latin typeface="Aptos"/>
              </a:rPr>
              <a:t>Flaky by nature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Box 7"/>
          <p:cNvSpPr/>
          <p:nvPr/>
        </p:nvSpPr>
        <p:spPr>
          <a:xfrm>
            <a:off x="841320" y="2441520"/>
            <a:ext cx="3071520" cy="8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263143"/>
                </a:solidFill>
                <a:latin typeface="Aptos"/>
              </a:rPr>
              <a:t>Network outages, rate limits,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63143"/>
                </a:solidFill>
                <a:latin typeface="Aptos"/>
              </a:rPr>
              <a:t>latency and changing payloads.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Rounded Rectangle 8"/>
          <p:cNvSpPr/>
          <p:nvPr/>
        </p:nvSpPr>
        <p:spPr>
          <a:xfrm>
            <a:off x="4370760" y="1783080"/>
            <a:ext cx="3474000" cy="201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" name="TextBox 9"/>
          <p:cNvSpPr/>
          <p:nvPr/>
        </p:nvSpPr>
        <p:spPr>
          <a:xfrm>
            <a:off x="4572000" y="1947600"/>
            <a:ext cx="30715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6f4cbe"/>
                </a:solidFill>
                <a:latin typeface="Aptos"/>
              </a:rPr>
              <a:t>Hard to reproduce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4572000" y="2441520"/>
            <a:ext cx="3071520" cy="10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263143"/>
                </a:solidFill>
                <a:latin typeface="Aptos"/>
              </a:rPr>
              <a:t>A failure may depend on a third-party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63143"/>
                </a:solidFill>
                <a:latin typeface="Aptos"/>
              </a:rPr>
              <a:t>service or a transient condition.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Rounded Rectangle 11"/>
          <p:cNvSpPr/>
          <p:nvPr/>
        </p:nvSpPr>
        <p:spPr>
          <a:xfrm>
            <a:off x="8101440" y="1783080"/>
            <a:ext cx="3474000" cy="201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TextBox 12"/>
          <p:cNvSpPr/>
          <p:nvPr/>
        </p:nvSpPr>
        <p:spPr>
          <a:xfrm>
            <a:off x="8302680" y="1947600"/>
            <a:ext cx="307152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008996"/>
                </a:solidFill>
                <a:latin typeface="Aptos"/>
              </a:rPr>
              <a:t>Limited edge cases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13"/>
          <p:cNvSpPr/>
          <p:nvPr/>
        </p:nvSpPr>
        <p:spPr>
          <a:xfrm>
            <a:off x="8302680" y="2441520"/>
            <a:ext cx="3071520" cy="10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263143"/>
                </a:solidFill>
                <a:latin typeface="Aptos"/>
              </a:rPr>
              <a:t>Success paths are easy; timeouts,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63143"/>
                </a:solidFill>
                <a:latin typeface="Aptos"/>
              </a:rPr>
              <a:t>errors and unusual responses are harder.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14"/>
          <p:cNvSpPr/>
          <p:nvPr/>
        </p:nvSpPr>
        <p:spPr>
          <a:xfrm>
            <a:off x="822960" y="4343400"/>
            <a:ext cx="1051488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263143"/>
                </a:solidFill>
                <a:latin typeface="Aptos"/>
              </a:rPr>
              <a:t>Testing your code should not require the external service to be healthy every time.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15"/>
          <p:cNvSpPr/>
          <p:nvPr/>
        </p:nvSpPr>
        <p:spPr>
          <a:xfrm>
            <a:off x="822960" y="5303520"/>
            <a:ext cx="104234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5e6c81"/>
                </a:solidFill>
                <a:latin typeface="Aptos"/>
              </a:rPr>
              <a:t>Goal: control the dependency while keeping the HTTP interaction realistic.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16"/>
          <p:cNvSpPr/>
          <p:nvPr/>
        </p:nvSpPr>
        <p:spPr>
          <a:xfrm>
            <a:off x="594360" y="6528960"/>
            <a:ext cx="73144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e6c81"/>
                </a:solidFill>
                <a:latin typeface="Aptos"/>
              </a:rPr>
              <a:t>HOVERFLY  /  API SIMULATION FOR TESTING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17"/>
          <p:cNvSpPr/>
          <p:nvPr/>
        </p:nvSpPr>
        <p:spPr>
          <a:xfrm>
            <a:off x="10972800" y="6492240"/>
            <a:ext cx="54792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5e6c81"/>
                </a:solidFill>
                <a:latin typeface="Aptos"/>
              </a:rPr>
              <a:t>02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2"/>
          <p:cNvSpPr/>
          <p:nvPr/>
        </p:nvSpPr>
        <p:spPr>
          <a:xfrm>
            <a:off x="594360" y="658440"/>
            <a:ext cx="108806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263143"/>
                </a:solidFill>
                <a:latin typeface="Aptos"/>
              </a:rPr>
              <a:t>Hoverfly is a service-virtualization proxy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ectangle 4"/>
          <p:cNvSpPr/>
          <p:nvPr/>
        </p:nvSpPr>
        <p:spPr>
          <a:xfrm>
            <a:off x="594360" y="1417320"/>
            <a:ext cx="10972080" cy="22320"/>
          </a:xfrm>
          <a:prstGeom prst="rect">
            <a:avLst/>
          </a:prstGeom>
          <a:solidFill>
            <a:srgbClr val="008996"/>
          </a:solidFill>
          <a:ln>
            <a:solidFill>
              <a:srgbClr val="3465a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731520" y="1783080"/>
            <a:ext cx="3748320" cy="137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263143"/>
                </a:solidFill>
                <a:latin typeface="Aptos"/>
              </a:rPr>
              <a:t>A lightweight, open-source tool for API simulation and HTTP traffic interception.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6"/>
          <p:cNvSpPr/>
          <p:nvPr/>
        </p:nvSpPr>
        <p:spPr>
          <a:xfrm>
            <a:off x="777240" y="3246120"/>
            <a:ext cx="40226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1836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pt-BR" sz="1700" spc="-1" strike="noStrike">
                <a:solidFill>
                  <a:srgbClr val="263143"/>
                </a:solidFill>
                <a:latin typeface="Calibri"/>
              </a:rPr>
              <a:t>Capture real request/response traffic</a:t>
            </a:r>
            <a:br>
              <a:rPr sz="1800"/>
            </a:br>
            <a:r>
              <a:rPr b="0" lang="pt-BR" sz="1700" spc="-1" strike="noStrike">
                <a:solidFill>
                  <a:srgbClr val="263143"/>
                </a:solidFill>
                <a:latin typeface="Calibri"/>
              </a:rPr>
              <a:t>Replay saved simulations in tests</a:t>
            </a:r>
            <a:br>
              <a:rPr sz="1800"/>
            </a:br>
            <a:r>
              <a:rPr b="0" lang="pt-BR" sz="1700" spc="-1" strike="noStrike">
                <a:solidFill>
                  <a:srgbClr val="263143"/>
                </a:solidFill>
                <a:latin typeface="Calibri"/>
              </a:rPr>
              <a:t>Match requests to stored responses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ounded Rectangle 7"/>
          <p:cNvSpPr/>
          <p:nvPr/>
        </p:nvSpPr>
        <p:spPr>
          <a:xfrm>
            <a:off x="5119920" y="1829160"/>
            <a:ext cx="1828080" cy="1050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8"/>
          <p:cNvSpPr/>
          <p:nvPr/>
        </p:nvSpPr>
        <p:spPr>
          <a:xfrm>
            <a:off x="5321160" y="1993680"/>
            <a:ext cx="14256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008996"/>
                </a:solidFill>
                <a:latin typeface="Aptos"/>
              </a:rPr>
              <a:t>Test / app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9"/>
          <p:cNvSpPr/>
          <p:nvPr/>
        </p:nvSpPr>
        <p:spPr>
          <a:xfrm>
            <a:off x="5321160" y="2487600"/>
            <a:ext cx="14256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63143"/>
                </a:solidFill>
                <a:latin typeface="Aptos"/>
              </a:rPr>
              <a:t>HTTP client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ounded Rectangle 10"/>
          <p:cNvSpPr/>
          <p:nvPr/>
        </p:nvSpPr>
        <p:spPr>
          <a:xfrm>
            <a:off x="7405920" y="1829160"/>
            <a:ext cx="1828080" cy="1050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11"/>
          <p:cNvSpPr/>
          <p:nvPr/>
        </p:nvSpPr>
        <p:spPr>
          <a:xfrm>
            <a:off x="7607160" y="1993680"/>
            <a:ext cx="14256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6f4cbe"/>
                </a:solidFill>
                <a:latin typeface="Aptos"/>
              </a:rPr>
              <a:t>Hoverfly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12"/>
          <p:cNvSpPr/>
          <p:nvPr/>
        </p:nvSpPr>
        <p:spPr>
          <a:xfrm>
            <a:off x="7607160" y="2487600"/>
            <a:ext cx="14256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63143"/>
                </a:solidFill>
                <a:latin typeface="Aptos"/>
              </a:rPr>
              <a:t>Proxy + rules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ounded Rectangle 13"/>
          <p:cNvSpPr/>
          <p:nvPr/>
        </p:nvSpPr>
        <p:spPr>
          <a:xfrm>
            <a:off x="9691920" y="1829160"/>
            <a:ext cx="1828080" cy="1050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14"/>
          <p:cNvSpPr/>
          <p:nvPr/>
        </p:nvSpPr>
        <p:spPr>
          <a:xfrm>
            <a:off x="9893160" y="1993680"/>
            <a:ext cx="14256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be680f"/>
                </a:solidFill>
                <a:latin typeface="Aptos"/>
              </a:rPr>
              <a:t>API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15"/>
          <p:cNvSpPr/>
          <p:nvPr/>
        </p:nvSpPr>
        <p:spPr>
          <a:xfrm>
            <a:off x="9893160" y="2319480"/>
            <a:ext cx="14256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63143"/>
                </a:solidFill>
                <a:latin typeface="Aptos"/>
              </a:rPr>
              <a:t>Real or simulated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4" name="Connector 16"/>
          <p:cNvCxnSpPr/>
          <p:nvPr/>
        </p:nvCxnSpPr>
        <p:spPr>
          <a:xfrm>
            <a:off x="6948720" y="2350080"/>
            <a:ext cx="457560" cy="720"/>
          </a:xfrm>
          <a:prstGeom prst="straightConnector1">
            <a:avLst/>
          </a:prstGeom>
          <a:ln w="31750">
            <a:solidFill>
              <a:srgbClr val="008996"/>
            </a:solidFill>
            <a:round/>
          </a:ln>
        </p:spPr>
      </p:cxnSp>
      <p:cxnSp>
        <p:nvCxnSpPr>
          <p:cNvPr id="85" name="Connector 17"/>
          <p:cNvCxnSpPr/>
          <p:nvPr/>
        </p:nvCxnSpPr>
        <p:spPr>
          <a:xfrm>
            <a:off x="9234720" y="2350080"/>
            <a:ext cx="457920" cy="720"/>
          </a:xfrm>
          <a:prstGeom prst="straightConnector1">
            <a:avLst/>
          </a:prstGeom>
          <a:ln w="31750">
            <a:solidFill>
              <a:srgbClr val="008996"/>
            </a:solidFill>
            <a:round/>
          </a:ln>
        </p:spPr>
      </p:cxnSp>
      <p:sp>
        <p:nvSpPr>
          <p:cNvPr id="86" name="TextBox 18"/>
          <p:cNvSpPr/>
          <p:nvPr/>
        </p:nvSpPr>
        <p:spPr>
          <a:xfrm>
            <a:off x="5394240" y="3600000"/>
            <a:ext cx="612576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63143"/>
                </a:solidFill>
                <a:latin typeface="Aptos"/>
              </a:rPr>
              <a:t>The test client makes ordinary HTTP calls.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20"/>
          <p:cNvSpPr/>
          <p:nvPr/>
        </p:nvSpPr>
        <p:spPr>
          <a:xfrm>
            <a:off x="5400000" y="4635000"/>
            <a:ext cx="6216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8996"/>
                </a:solidFill>
                <a:latin typeface="Aptos"/>
              </a:rPr>
              <a:t>Hoverfly is a controllable stand-in for an API dependency.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21"/>
          <p:cNvSpPr/>
          <p:nvPr/>
        </p:nvSpPr>
        <p:spPr>
          <a:xfrm>
            <a:off x="594360" y="6528960"/>
            <a:ext cx="73144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e6c81"/>
                </a:solidFill>
                <a:latin typeface="Aptos"/>
              </a:rPr>
              <a:t>HOVERFLY  /  API SIMULATION FOR TESTING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22"/>
          <p:cNvSpPr/>
          <p:nvPr/>
        </p:nvSpPr>
        <p:spPr>
          <a:xfrm>
            <a:off x="10972800" y="6492240"/>
            <a:ext cx="54792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5e6c81"/>
                </a:solidFill>
                <a:latin typeface="Aptos"/>
              </a:rPr>
              <a:t>03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540000" y="4327920"/>
            <a:ext cx="3960000" cy="197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2"/>
          <p:cNvSpPr/>
          <p:nvPr/>
        </p:nvSpPr>
        <p:spPr>
          <a:xfrm>
            <a:off x="594360" y="658440"/>
            <a:ext cx="108806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263143"/>
                </a:solidFill>
                <a:latin typeface="Aptos"/>
              </a:rPr>
              <a:t>Choose the mode for the testing question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ectangle 4"/>
          <p:cNvSpPr/>
          <p:nvPr/>
        </p:nvSpPr>
        <p:spPr>
          <a:xfrm>
            <a:off x="594360" y="1417320"/>
            <a:ext cx="10972080" cy="22320"/>
          </a:xfrm>
          <a:prstGeom prst="rect">
            <a:avLst/>
          </a:prstGeom>
          <a:solidFill>
            <a:srgbClr val="008996"/>
          </a:solidFill>
          <a:ln>
            <a:solidFill>
              <a:srgbClr val="3465a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Rounded Rectangle 5"/>
          <p:cNvSpPr/>
          <p:nvPr/>
        </p:nvSpPr>
        <p:spPr>
          <a:xfrm>
            <a:off x="640080" y="1737360"/>
            <a:ext cx="3519720" cy="159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841320" y="1901880"/>
            <a:ext cx="311724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008996"/>
                </a:solidFill>
                <a:latin typeface="Aptos"/>
              </a:rPr>
              <a:t>CAPTURE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841320" y="2395800"/>
            <a:ext cx="311724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3143"/>
                </a:solidFill>
                <a:latin typeface="Aptos"/>
              </a:rPr>
              <a:t>Record real HTTP interactions into a reusable simulation.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ounded Rectangle 8"/>
          <p:cNvSpPr/>
          <p:nvPr/>
        </p:nvSpPr>
        <p:spPr>
          <a:xfrm>
            <a:off x="4343400" y="1737360"/>
            <a:ext cx="3519720" cy="159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9"/>
          <p:cNvSpPr/>
          <p:nvPr/>
        </p:nvSpPr>
        <p:spPr>
          <a:xfrm>
            <a:off x="4544640" y="1901880"/>
            <a:ext cx="311724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6f4cbe"/>
                </a:solidFill>
                <a:latin typeface="Aptos"/>
              </a:rPr>
              <a:t>SIMULATE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10"/>
          <p:cNvSpPr/>
          <p:nvPr/>
        </p:nvSpPr>
        <p:spPr>
          <a:xfrm>
            <a:off x="4544640" y="2395800"/>
            <a:ext cx="311724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3143"/>
                </a:solidFill>
                <a:latin typeface="Aptos"/>
              </a:rPr>
              <a:t>Replay recorded interactions without calling the real API.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ounded Rectangle 11"/>
          <p:cNvSpPr/>
          <p:nvPr/>
        </p:nvSpPr>
        <p:spPr>
          <a:xfrm>
            <a:off x="8046720" y="1737360"/>
            <a:ext cx="3519720" cy="159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12"/>
          <p:cNvSpPr/>
          <p:nvPr/>
        </p:nvSpPr>
        <p:spPr>
          <a:xfrm>
            <a:off x="8247960" y="1901880"/>
            <a:ext cx="311724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be680f"/>
                </a:solidFill>
                <a:latin typeface="Aptos"/>
              </a:rPr>
              <a:t>MODIFY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13"/>
          <p:cNvSpPr/>
          <p:nvPr/>
        </p:nvSpPr>
        <p:spPr>
          <a:xfrm>
            <a:off x="8247960" y="2395800"/>
            <a:ext cx="311724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3143"/>
                </a:solidFill>
                <a:latin typeface="Aptos"/>
              </a:rPr>
              <a:t>Pass traffic through and transform requests and/or responses via middleware.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ounded Rectangle 14"/>
          <p:cNvSpPr/>
          <p:nvPr/>
        </p:nvSpPr>
        <p:spPr>
          <a:xfrm>
            <a:off x="620280" y="4163400"/>
            <a:ext cx="3519720" cy="1416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15"/>
          <p:cNvSpPr/>
          <p:nvPr/>
        </p:nvSpPr>
        <p:spPr>
          <a:xfrm>
            <a:off x="821520" y="4327920"/>
            <a:ext cx="311724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1b7d52"/>
                </a:solidFill>
                <a:latin typeface="Aptos"/>
              </a:rPr>
              <a:t>SPY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16"/>
          <p:cNvSpPr/>
          <p:nvPr/>
        </p:nvSpPr>
        <p:spPr>
          <a:xfrm>
            <a:off x="821520" y="4821840"/>
            <a:ext cx="31172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63143"/>
                </a:solidFill>
                <a:latin typeface="Aptos"/>
              </a:rPr>
              <a:t>Simulate external API only if found a matching request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ounded Rectangle 17"/>
          <p:cNvSpPr/>
          <p:nvPr/>
        </p:nvSpPr>
        <p:spPr>
          <a:xfrm>
            <a:off x="4320000" y="4193640"/>
            <a:ext cx="3519720" cy="1416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18"/>
          <p:cNvSpPr/>
          <p:nvPr/>
        </p:nvSpPr>
        <p:spPr>
          <a:xfrm>
            <a:off x="4521240" y="4358160"/>
            <a:ext cx="311724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008996"/>
                </a:solidFill>
                <a:latin typeface="Aptos"/>
              </a:rPr>
              <a:t>SYNTHESIZE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19"/>
          <p:cNvSpPr/>
          <p:nvPr/>
        </p:nvSpPr>
        <p:spPr>
          <a:xfrm>
            <a:off x="4521240" y="4852080"/>
            <a:ext cx="311724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63143"/>
                </a:solidFill>
                <a:latin typeface="Aptos"/>
              </a:rPr>
              <a:t>Create responses dynamically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21"/>
          <p:cNvSpPr/>
          <p:nvPr/>
        </p:nvSpPr>
        <p:spPr>
          <a:xfrm>
            <a:off x="594360" y="6528960"/>
            <a:ext cx="73144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e6c81"/>
                </a:solidFill>
                <a:latin typeface="Aptos"/>
              </a:rPr>
              <a:t>HOVERFLY  /  API SIMULATION FOR TESTING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22"/>
          <p:cNvSpPr/>
          <p:nvPr/>
        </p:nvSpPr>
        <p:spPr>
          <a:xfrm>
            <a:off x="10972800" y="6492240"/>
            <a:ext cx="54792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5e6c81"/>
                </a:solidFill>
                <a:latin typeface="Aptos"/>
              </a:rPr>
              <a:t>04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ounded Rectangle 6"/>
          <p:cNvSpPr/>
          <p:nvPr/>
        </p:nvSpPr>
        <p:spPr>
          <a:xfrm>
            <a:off x="8100000" y="4163400"/>
            <a:ext cx="3519720" cy="1416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37"/>
          <p:cNvSpPr/>
          <p:nvPr/>
        </p:nvSpPr>
        <p:spPr>
          <a:xfrm>
            <a:off x="8301240" y="4327920"/>
            <a:ext cx="311724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1b7d52"/>
                </a:solidFill>
                <a:latin typeface="Aptos"/>
              </a:rPr>
              <a:t>DIFF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38"/>
          <p:cNvSpPr/>
          <p:nvPr/>
        </p:nvSpPr>
        <p:spPr>
          <a:xfrm>
            <a:off x="8301240" y="4821840"/>
            <a:ext cx="311724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63143"/>
                </a:solidFill>
                <a:latin typeface="Aptos"/>
              </a:rPr>
              <a:t>Compare the real external API response vs the stored simulated and store the diff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36"/>
          <p:cNvSpPr/>
          <p:nvPr/>
        </p:nvSpPr>
        <p:spPr>
          <a:xfrm>
            <a:off x="594360" y="658440"/>
            <a:ext cx="108806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263143"/>
                </a:solidFill>
                <a:latin typeface="Aptos"/>
              </a:rPr>
              <a:t>Modify Mode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ctangle 3"/>
          <p:cNvSpPr/>
          <p:nvPr/>
        </p:nvSpPr>
        <p:spPr>
          <a:xfrm>
            <a:off x="594360" y="1417320"/>
            <a:ext cx="10972080" cy="22320"/>
          </a:xfrm>
          <a:prstGeom prst="rect">
            <a:avLst/>
          </a:prstGeom>
          <a:solidFill>
            <a:srgbClr val="008996"/>
          </a:solidFill>
          <a:ln>
            <a:solidFill>
              <a:srgbClr val="3465a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47"/>
          <p:cNvSpPr/>
          <p:nvPr/>
        </p:nvSpPr>
        <p:spPr>
          <a:xfrm>
            <a:off x="594360" y="6528960"/>
            <a:ext cx="73144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e6c81"/>
                </a:solidFill>
                <a:latin typeface="Aptos"/>
              </a:rPr>
              <a:t>HOVERFLY  /  API SIMULATION FOR TESTING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48"/>
          <p:cNvSpPr/>
          <p:nvPr/>
        </p:nvSpPr>
        <p:spPr>
          <a:xfrm>
            <a:off x="10972800" y="6492240"/>
            <a:ext cx="54792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5e6c81"/>
                </a:solidFill>
                <a:latin typeface="Aptos"/>
              </a:rPr>
              <a:t>05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2700000" y="1620000"/>
            <a:ext cx="6888600" cy="479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"/>
          <p:cNvSpPr/>
          <p:nvPr/>
        </p:nvSpPr>
        <p:spPr>
          <a:xfrm>
            <a:off x="594360" y="411480"/>
            <a:ext cx="1088100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>
              <a:lnSpc>
                <a:spcPct val="100000"/>
              </a:lnSpc>
            </a:pPr>
            <a:r>
              <a:rPr b="1" lang="pt-BR" sz="3000" spc="-1" strike="noStrike">
                <a:solidFill>
                  <a:srgbClr val="1c2a44"/>
                </a:solidFill>
                <a:latin typeface="Aptos"/>
              </a:rPr>
              <a:t>How Hoverfly selects a response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ectangle 2"/>
          <p:cNvSpPr/>
          <p:nvPr/>
        </p:nvSpPr>
        <p:spPr>
          <a:xfrm>
            <a:off x="594360" y="1234440"/>
            <a:ext cx="10972440" cy="22680"/>
          </a:xfrm>
          <a:prstGeom prst="rect">
            <a:avLst/>
          </a:prstGeom>
          <a:solidFill>
            <a:srgbClr val="008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777240" y="1554480"/>
            <a:ext cx="1042380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ounded Rectangle 15"/>
          <p:cNvSpPr/>
          <p:nvPr/>
        </p:nvSpPr>
        <p:spPr>
          <a:xfrm>
            <a:off x="3240000" y="4860000"/>
            <a:ext cx="498312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16"/>
          <p:cNvSpPr/>
          <p:nvPr/>
        </p:nvSpPr>
        <p:spPr>
          <a:xfrm>
            <a:off x="3404520" y="4988160"/>
            <a:ext cx="465408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>
              <a:lnSpc>
                <a:spcPct val="100000"/>
              </a:lnSpc>
            </a:pPr>
            <a:r>
              <a:rPr b="1" lang="pt-BR" sz="1700" spc="-1" strike="noStrike">
                <a:solidFill>
                  <a:srgbClr val="008996"/>
                </a:solidFill>
                <a:latin typeface="Aptos"/>
              </a:rPr>
              <a:t>WINNER: PAIR 3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17"/>
          <p:cNvSpPr/>
          <p:nvPr/>
        </p:nvSpPr>
        <p:spPr>
          <a:xfrm>
            <a:off x="3404520" y="5362920"/>
            <a:ext cx="465408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263143"/>
                </a:solidFill>
                <a:latin typeface="Aptos"/>
              </a:rPr>
              <a:t>Both configured matchers succeed, giving it the higher score. Hoverfly returns Pair 3’s associated response.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23"/>
          <p:cNvSpPr/>
          <p:nvPr/>
        </p:nvSpPr>
        <p:spPr>
          <a:xfrm>
            <a:off x="594360" y="6537960"/>
            <a:ext cx="731484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>
              <a:lnSpc>
                <a:spcPct val="100000"/>
              </a:lnSpc>
            </a:pPr>
            <a:r>
              <a:rPr b="0" lang="pt-BR" sz="900" spc="-1" strike="noStrike">
                <a:solidFill>
                  <a:srgbClr val="5e6c81"/>
                </a:solidFill>
                <a:latin typeface="Aptos"/>
              </a:rPr>
              <a:t>HOVERFLY  /  API SIMULATION FOR TESTING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24"/>
          <p:cNvSpPr/>
          <p:nvPr/>
        </p:nvSpPr>
        <p:spPr>
          <a:xfrm>
            <a:off x="10972800" y="6510600"/>
            <a:ext cx="5482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>
              <a:lnSpc>
                <a:spcPct val="100000"/>
              </a:lnSpc>
            </a:pPr>
            <a:r>
              <a:rPr b="1" lang="pt-BR" sz="1000" spc="-1" strike="noStrike">
                <a:solidFill>
                  <a:srgbClr val="5e6c81"/>
                </a:solidFill>
                <a:latin typeface="Aptos"/>
              </a:rPr>
              <a:t>06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4500000" y="3240000"/>
            <a:ext cx="6781320" cy="1514160"/>
          </a:xfrm>
          <a:prstGeom prst="rect">
            <a:avLst/>
          </a:prstGeom>
          <a:ln w="0">
            <a:noFill/>
          </a:ln>
        </p:spPr>
      </p:pic>
      <p:pic>
        <p:nvPicPr>
          <p:cNvPr id="127" name="" descr=""/>
          <p:cNvPicPr/>
          <p:nvPr/>
        </p:nvPicPr>
        <p:blipFill>
          <a:blip r:embed="rId2"/>
          <a:stretch/>
        </p:blipFill>
        <p:spPr>
          <a:xfrm>
            <a:off x="4419720" y="1620000"/>
            <a:ext cx="6781320" cy="151416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3"/>
          <a:stretch/>
        </p:blipFill>
        <p:spPr>
          <a:xfrm>
            <a:off x="720000" y="2352600"/>
            <a:ext cx="3105000" cy="1607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2"/>
          <p:cNvSpPr/>
          <p:nvPr/>
        </p:nvSpPr>
        <p:spPr>
          <a:xfrm>
            <a:off x="594360" y="658440"/>
            <a:ext cx="108806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263143"/>
                </a:solidFill>
                <a:latin typeface="Aptos"/>
              </a:rPr>
              <a:t>Where Hoverfly fits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Rectangle 4"/>
          <p:cNvSpPr/>
          <p:nvPr/>
        </p:nvSpPr>
        <p:spPr>
          <a:xfrm>
            <a:off x="594360" y="1417320"/>
            <a:ext cx="10972080" cy="22320"/>
          </a:xfrm>
          <a:prstGeom prst="rect">
            <a:avLst/>
          </a:prstGeom>
          <a:solidFill>
            <a:srgbClr val="008996"/>
          </a:solidFill>
          <a:ln>
            <a:solidFill>
              <a:srgbClr val="3465a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Rounded Rectangle 5"/>
          <p:cNvSpPr/>
          <p:nvPr/>
        </p:nvSpPr>
        <p:spPr>
          <a:xfrm>
            <a:off x="3600000" y="1980000"/>
            <a:ext cx="5211360" cy="182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6"/>
          <p:cNvSpPr/>
          <p:nvPr/>
        </p:nvSpPr>
        <p:spPr>
          <a:xfrm>
            <a:off x="3801240" y="2144520"/>
            <a:ext cx="480888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1b7d52"/>
                </a:solidFill>
                <a:latin typeface="Aptos"/>
              </a:rPr>
              <a:t>Good fit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7"/>
          <p:cNvSpPr/>
          <p:nvPr/>
        </p:nvSpPr>
        <p:spPr>
          <a:xfrm>
            <a:off x="3801240" y="2638440"/>
            <a:ext cx="4808880" cy="8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63143"/>
                </a:solidFill>
                <a:latin typeface="Aptos"/>
                <a:ea typeface="Noto Sans CJK SC"/>
              </a:rPr>
              <a:t>Integration or end-to-end </a:t>
            </a:r>
            <a:r>
              <a:rPr b="0" lang="en-US" sz="1700" spc="-1" strike="noStrike">
                <a:solidFill>
                  <a:srgbClr val="263143"/>
                </a:solidFill>
                <a:latin typeface="Aptos"/>
              </a:rPr>
              <a:t>tests with HTTP dependencies; repeatable regression cases; controlled failures and response variants.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ounded Rectangle 8"/>
          <p:cNvSpPr/>
          <p:nvPr/>
        </p:nvSpPr>
        <p:spPr>
          <a:xfrm>
            <a:off x="3600000" y="4291920"/>
            <a:ext cx="5211360" cy="182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9"/>
          <p:cNvSpPr/>
          <p:nvPr/>
        </p:nvSpPr>
        <p:spPr>
          <a:xfrm>
            <a:off x="3801240" y="4456440"/>
            <a:ext cx="480888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be680f"/>
                </a:solidFill>
                <a:latin typeface="Aptos"/>
              </a:rPr>
              <a:t>Not a replacement for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10"/>
          <p:cNvSpPr/>
          <p:nvPr/>
        </p:nvSpPr>
        <p:spPr>
          <a:xfrm>
            <a:off x="3801240" y="4950360"/>
            <a:ext cx="4808880" cy="5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63143"/>
                </a:solidFill>
                <a:latin typeface="Aptos"/>
              </a:rPr>
              <a:t>All end-to-end tests use cases, contract test, or unit test where a local mock is sufficient.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13"/>
          <p:cNvSpPr/>
          <p:nvPr/>
        </p:nvSpPr>
        <p:spPr>
          <a:xfrm>
            <a:off x="594360" y="6528960"/>
            <a:ext cx="731448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e6c81"/>
                </a:solidFill>
                <a:latin typeface="Aptos"/>
              </a:rPr>
              <a:t>HOVERFLY  /  API SIMULATION FOR TESTING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14"/>
          <p:cNvSpPr/>
          <p:nvPr/>
        </p:nvSpPr>
        <p:spPr>
          <a:xfrm>
            <a:off x="10972800" y="6492240"/>
            <a:ext cx="54792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rIns="27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5e6c81"/>
                </a:solidFill>
                <a:latin typeface="Aptos"/>
              </a:rPr>
              <a:t>07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2026-10-10T09:39:03Z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