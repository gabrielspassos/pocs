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E31F84-1843-46DD-B6B3-B54F64F7EF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8A7D1C-C4CE-4D84-9C77-1C99423815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1BA198A-9DB9-45D0-AC75-D6D170E2180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83577D4-F778-47CA-A37E-92F1077185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B2A2A7C-3BA0-431F-A054-DDB6030841F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699AF3A-E34F-4DC9-A87F-75C56C4383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A1349A9-E819-4FD2-92D3-C41D8CBBC9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CE2E7E2-70BC-48DD-848F-B180A233281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0D2E64A-2BC0-46C2-9852-908CC4073E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530F6E2-F23A-4976-97EA-43B328BC1A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0C929AB-AFAC-422A-8D44-06998261B9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C74AAA2-2AF4-47FA-B5D2-09A2CEECD76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B314129-FF0A-4258-9AB0-93BC3B3C5E4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F8F2469-CFFD-4938-A95B-01C75B5E0A6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F0D3A29-2AC4-45DE-9004-D3AC8242F17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896E6E9-1FA4-4E69-B4B7-E839408C783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D6CD85B-A9D7-44FD-AA9C-D03294B49C0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09D7070-F5F2-458E-A3B5-A81CD3CC72B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ED2282B-785B-48FA-AB46-5348FFCF684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34382CE-40E3-468F-AFEA-C302853DDC7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CC563A0-97B5-487D-9887-DBC69AA59C6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12E235D-D129-4BE3-8DAE-DA4171A8323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2"/>
          <p:cNvSpPr/>
          <p:nvPr/>
        </p:nvSpPr>
        <p:spPr>
          <a:xfrm>
            <a:off x="672840" y="3844800"/>
            <a:ext cx="6582960" cy="79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500" spc="-1" strike="noStrike">
                <a:solidFill>
                  <a:srgbClr val="5e6c81"/>
                </a:solidFill>
                <a:latin typeface="Aptos"/>
              </a:rPr>
              <a:t>Deterministic testing for applications with external APIs</a:t>
            </a:r>
            <a:endParaRPr b="0" lang="pt-BR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Box 13"/>
          <p:cNvSpPr/>
          <p:nvPr/>
        </p:nvSpPr>
        <p:spPr>
          <a:xfrm>
            <a:off x="749880" y="4983480"/>
            <a:ext cx="65829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Box 14"/>
          <p:cNvSpPr/>
          <p:nvPr/>
        </p:nvSpPr>
        <p:spPr>
          <a:xfrm>
            <a:off x="749880" y="5669280"/>
            <a:ext cx="69487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008996"/>
                </a:solidFill>
                <a:latin typeface="Aptos"/>
              </a:rPr>
              <a:t>Gabriel Passos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15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16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900000" y="540000"/>
            <a:ext cx="6887160" cy="210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2"/>
          <p:cNvSpPr/>
          <p:nvPr/>
        </p:nvSpPr>
        <p:spPr>
          <a:xfrm>
            <a:off x="594360" y="658440"/>
            <a:ext cx="10880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263143"/>
                </a:solidFill>
                <a:latin typeface="Aptos"/>
              </a:rPr>
              <a:t>External dependencies make tests unpredictable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Rectangle 4"/>
          <p:cNvSpPr/>
          <p:nvPr/>
        </p:nvSpPr>
        <p:spPr>
          <a:xfrm>
            <a:off x="594360" y="1417320"/>
            <a:ext cx="10972080" cy="22320"/>
          </a:xfrm>
          <a:prstGeom prst="rect">
            <a:avLst/>
          </a:prstGeom>
          <a:solidFill>
            <a:srgbClr val="008996"/>
          </a:solidFill>
          <a:ln>
            <a:solidFill>
              <a:srgbClr val="3465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" name="Rounded Rectangle 5"/>
          <p:cNvSpPr/>
          <p:nvPr/>
        </p:nvSpPr>
        <p:spPr>
          <a:xfrm>
            <a:off x="640080" y="1783080"/>
            <a:ext cx="347400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" name="TextBox 6"/>
          <p:cNvSpPr/>
          <p:nvPr/>
        </p:nvSpPr>
        <p:spPr>
          <a:xfrm>
            <a:off x="841320" y="1947600"/>
            <a:ext cx="30715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be680f"/>
                </a:solidFill>
                <a:latin typeface="Aptos"/>
              </a:rPr>
              <a:t>Flaky by nature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Box 7"/>
          <p:cNvSpPr/>
          <p:nvPr/>
        </p:nvSpPr>
        <p:spPr>
          <a:xfrm>
            <a:off x="841320" y="2441520"/>
            <a:ext cx="3071520" cy="8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Network outages, rate limits,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latency and changing payloads.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Rounded Rectangle 8"/>
          <p:cNvSpPr/>
          <p:nvPr/>
        </p:nvSpPr>
        <p:spPr>
          <a:xfrm>
            <a:off x="4370760" y="1783080"/>
            <a:ext cx="347400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" name="TextBox 9"/>
          <p:cNvSpPr/>
          <p:nvPr/>
        </p:nvSpPr>
        <p:spPr>
          <a:xfrm>
            <a:off x="4572000" y="1947600"/>
            <a:ext cx="30715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6f4cbe"/>
                </a:solidFill>
                <a:latin typeface="Aptos"/>
              </a:rPr>
              <a:t>Hard to reproduce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4572000" y="2441520"/>
            <a:ext cx="3071520" cy="10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A failure may depend on a third-party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service or a transient condition.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Rounded Rectangle 11"/>
          <p:cNvSpPr/>
          <p:nvPr/>
        </p:nvSpPr>
        <p:spPr>
          <a:xfrm>
            <a:off x="8101440" y="1783080"/>
            <a:ext cx="3474000" cy="2010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" name="TextBox 12"/>
          <p:cNvSpPr/>
          <p:nvPr/>
        </p:nvSpPr>
        <p:spPr>
          <a:xfrm>
            <a:off x="8302680" y="1947600"/>
            <a:ext cx="30715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008996"/>
                </a:solidFill>
                <a:latin typeface="Aptos"/>
              </a:rPr>
              <a:t>Limited edge cases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Box 13"/>
          <p:cNvSpPr/>
          <p:nvPr/>
        </p:nvSpPr>
        <p:spPr>
          <a:xfrm>
            <a:off x="8302680" y="2441520"/>
            <a:ext cx="3071520" cy="10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Success paths are easy; timeouts,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errors and unusual responses are harder.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Box 14"/>
          <p:cNvSpPr/>
          <p:nvPr/>
        </p:nvSpPr>
        <p:spPr>
          <a:xfrm>
            <a:off x="822960" y="4343400"/>
            <a:ext cx="105148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263143"/>
                </a:solidFill>
                <a:latin typeface="Aptos"/>
              </a:rPr>
              <a:t>Testing your code should not require the external service to be healthy every time.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15"/>
          <p:cNvSpPr/>
          <p:nvPr/>
        </p:nvSpPr>
        <p:spPr>
          <a:xfrm>
            <a:off x="822960" y="5303520"/>
            <a:ext cx="1042344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5e6c81"/>
                </a:solidFill>
                <a:latin typeface="Aptos"/>
              </a:rPr>
              <a:t>Goal: control the dependency while keeping the HTTP interaction realistic.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Box 16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17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02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2"/>
          <p:cNvSpPr/>
          <p:nvPr/>
        </p:nvSpPr>
        <p:spPr>
          <a:xfrm>
            <a:off x="594360" y="658440"/>
            <a:ext cx="10880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263143"/>
                </a:solidFill>
                <a:latin typeface="Aptos"/>
              </a:rPr>
              <a:t>Hoverfly is a service-virtualization proxy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4"/>
          <p:cNvSpPr/>
          <p:nvPr/>
        </p:nvSpPr>
        <p:spPr>
          <a:xfrm>
            <a:off x="594360" y="1417320"/>
            <a:ext cx="10972080" cy="22320"/>
          </a:xfrm>
          <a:prstGeom prst="rect">
            <a:avLst/>
          </a:prstGeom>
          <a:solidFill>
            <a:srgbClr val="008996"/>
          </a:solidFill>
          <a:ln>
            <a:solidFill>
              <a:srgbClr val="3465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731520" y="1783080"/>
            <a:ext cx="3748320" cy="13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263143"/>
                </a:solidFill>
                <a:latin typeface="Aptos"/>
              </a:rPr>
              <a:t>A lightweight, open-source tool for API simulation and HTTP traffic interception.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777240" y="3246120"/>
            <a:ext cx="4022640" cy="13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pt-BR" sz="1700" spc="-1" strike="noStrike">
                <a:solidFill>
                  <a:srgbClr val="263143"/>
                </a:solidFill>
                <a:latin typeface="Calibri"/>
              </a:rPr>
              <a:t>Capture real request/response traffic</a:t>
            </a:r>
            <a:br>
              <a:rPr sz="1800"/>
            </a:br>
            <a:r>
              <a:rPr b="0" lang="pt-BR" sz="1700" spc="-1" strike="noStrike">
                <a:solidFill>
                  <a:srgbClr val="263143"/>
                </a:solidFill>
                <a:latin typeface="Calibri"/>
              </a:rPr>
              <a:t>Replay saved simulations in tests</a:t>
            </a:r>
            <a:br>
              <a:rPr sz="1800"/>
            </a:br>
            <a:r>
              <a:rPr b="0" lang="pt-BR" sz="1700" spc="-1" strike="noStrike">
                <a:solidFill>
                  <a:srgbClr val="263143"/>
                </a:solidFill>
                <a:latin typeface="Calibri"/>
              </a:rPr>
              <a:t>Match requests to stored responses</a:t>
            </a:r>
            <a:br>
              <a:rPr sz="1800"/>
            </a:br>
            <a:r>
              <a:rPr b="0" lang="pt-BR" sz="1700" spc="-1" strike="noStrike">
                <a:solidFill>
                  <a:srgbClr val="263143"/>
                </a:solidFill>
                <a:latin typeface="Calibri"/>
              </a:rPr>
              <a:t>Export and reuse simulations across environments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ounded Rectangle 7"/>
          <p:cNvSpPr/>
          <p:nvPr/>
        </p:nvSpPr>
        <p:spPr>
          <a:xfrm>
            <a:off x="5212080" y="1828800"/>
            <a:ext cx="1828080" cy="1050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TextBox 8"/>
          <p:cNvSpPr/>
          <p:nvPr/>
        </p:nvSpPr>
        <p:spPr>
          <a:xfrm>
            <a:off x="5413320" y="1993320"/>
            <a:ext cx="1425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008996"/>
                </a:solidFill>
                <a:latin typeface="Aptos"/>
              </a:rPr>
              <a:t>Test / app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5413320" y="2487240"/>
            <a:ext cx="14256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HTTP client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ounded Rectangle 10"/>
          <p:cNvSpPr/>
          <p:nvPr/>
        </p:nvSpPr>
        <p:spPr>
          <a:xfrm>
            <a:off x="7498080" y="1828800"/>
            <a:ext cx="1828080" cy="1050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TextBox 11"/>
          <p:cNvSpPr/>
          <p:nvPr/>
        </p:nvSpPr>
        <p:spPr>
          <a:xfrm>
            <a:off x="7699320" y="1993320"/>
            <a:ext cx="1425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6f4cbe"/>
                </a:solidFill>
                <a:latin typeface="Aptos"/>
              </a:rPr>
              <a:t>Hoverfly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12"/>
          <p:cNvSpPr/>
          <p:nvPr/>
        </p:nvSpPr>
        <p:spPr>
          <a:xfrm>
            <a:off x="7699320" y="2487240"/>
            <a:ext cx="14256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Proxy + rules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ounded Rectangle 13"/>
          <p:cNvSpPr/>
          <p:nvPr/>
        </p:nvSpPr>
        <p:spPr>
          <a:xfrm>
            <a:off x="9784080" y="1828800"/>
            <a:ext cx="1828080" cy="1050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14"/>
          <p:cNvSpPr/>
          <p:nvPr/>
        </p:nvSpPr>
        <p:spPr>
          <a:xfrm>
            <a:off x="9985320" y="1993320"/>
            <a:ext cx="14256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be680f"/>
                </a:solidFill>
                <a:latin typeface="Aptos"/>
              </a:rPr>
              <a:t>API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15"/>
          <p:cNvSpPr/>
          <p:nvPr/>
        </p:nvSpPr>
        <p:spPr>
          <a:xfrm>
            <a:off x="9985320" y="2487240"/>
            <a:ext cx="14256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Real or simulated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4" name="Connector 16"/>
          <p:cNvCxnSpPr/>
          <p:nvPr/>
        </p:nvCxnSpPr>
        <p:spPr>
          <a:xfrm>
            <a:off x="7040880" y="2349720"/>
            <a:ext cx="457560" cy="720"/>
          </a:xfrm>
          <a:prstGeom prst="straightConnector1">
            <a:avLst/>
          </a:prstGeom>
          <a:ln w="31750">
            <a:solidFill>
              <a:srgbClr val="008996"/>
            </a:solidFill>
            <a:round/>
          </a:ln>
        </p:spPr>
      </p:cxnSp>
      <p:cxnSp>
        <p:nvCxnSpPr>
          <p:cNvPr id="85" name="Connector 17"/>
          <p:cNvCxnSpPr/>
          <p:nvPr/>
        </p:nvCxnSpPr>
        <p:spPr>
          <a:xfrm>
            <a:off x="9326880" y="2349720"/>
            <a:ext cx="457920" cy="720"/>
          </a:xfrm>
          <a:prstGeom prst="straightConnector1">
            <a:avLst/>
          </a:prstGeom>
          <a:ln w="31750">
            <a:solidFill>
              <a:srgbClr val="008996"/>
            </a:solidFill>
            <a:round/>
          </a:ln>
        </p:spPr>
      </p:cxnSp>
      <p:sp>
        <p:nvSpPr>
          <p:cNvPr id="86" name="TextBox 18"/>
          <p:cNvSpPr/>
          <p:nvPr/>
        </p:nvSpPr>
        <p:spPr>
          <a:xfrm>
            <a:off x="5303520" y="3246120"/>
            <a:ext cx="61257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263143"/>
                </a:solidFill>
                <a:latin typeface="Aptos"/>
              </a:rPr>
              <a:t>The client makes ordinary HTTP calls.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9"/>
          <p:cNvSpPr/>
          <p:nvPr/>
        </p:nvSpPr>
        <p:spPr>
          <a:xfrm>
            <a:off x="5303520" y="3794760"/>
            <a:ext cx="585144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600" spc="-1" strike="noStrike">
                <a:solidFill>
                  <a:srgbClr val="5e6c81"/>
                </a:solidFill>
                <a:latin typeface="Calibri"/>
              </a:rPr>
              <a:t>In Simulate mode, Hoverfly compares the incoming request with stored request matchers and returns the response associated with the best match.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5303520" y="5074920"/>
            <a:ext cx="58514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08996"/>
                </a:solidFill>
                <a:latin typeface="Aptos"/>
              </a:rPr>
              <a:t>Think: a controllable stand-in for an API dependency.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21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22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03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2"/>
          <p:cNvSpPr/>
          <p:nvPr/>
        </p:nvSpPr>
        <p:spPr>
          <a:xfrm>
            <a:off x="594360" y="658440"/>
            <a:ext cx="10880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263143"/>
                </a:solidFill>
                <a:latin typeface="Aptos"/>
              </a:rPr>
              <a:t>Choose the mode for the testing question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4"/>
          <p:cNvSpPr/>
          <p:nvPr/>
        </p:nvSpPr>
        <p:spPr>
          <a:xfrm>
            <a:off x="594360" y="1417320"/>
            <a:ext cx="10972080" cy="22320"/>
          </a:xfrm>
          <a:prstGeom prst="rect">
            <a:avLst/>
          </a:prstGeom>
          <a:solidFill>
            <a:srgbClr val="008996"/>
          </a:solidFill>
          <a:ln>
            <a:solidFill>
              <a:srgbClr val="3465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ounded Rectangle 5"/>
          <p:cNvSpPr/>
          <p:nvPr/>
        </p:nvSpPr>
        <p:spPr>
          <a:xfrm>
            <a:off x="640080" y="1737360"/>
            <a:ext cx="3519720" cy="159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841320" y="1901880"/>
            <a:ext cx="31172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008996"/>
                </a:solidFill>
                <a:latin typeface="Aptos"/>
              </a:rPr>
              <a:t>CAPTURE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841320" y="2395800"/>
            <a:ext cx="3117240" cy="5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63143"/>
                </a:solidFill>
                <a:latin typeface="Aptos"/>
              </a:rPr>
              <a:t>Record real HTTP interactions into a reusable simulation.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Rounded Rectangle 8"/>
          <p:cNvSpPr/>
          <p:nvPr/>
        </p:nvSpPr>
        <p:spPr>
          <a:xfrm>
            <a:off x="4343400" y="1737360"/>
            <a:ext cx="3519720" cy="159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9"/>
          <p:cNvSpPr/>
          <p:nvPr/>
        </p:nvSpPr>
        <p:spPr>
          <a:xfrm>
            <a:off x="4544640" y="1901880"/>
            <a:ext cx="31172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6f4cbe"/>
                </a:solidFill>
                <a:latin typeface="Aptos"/>
              </a:rPr>
              <a:t>SIMULATE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4544640" y="2395800"/>
            <a:ext cx="3117240" cy="5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63143"/>
                </a:solidFill>
                <a:latin typeface="Aptos"/>
              </a:rPr>
              <a:t>Replay recorded interactions without calling the real API.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ounded Rectangle 11"/>
          <p:cNvSpPr/>
          <p:nvPr/>
        </p:nvSpPr>
        <p:spPr>
          <a:xfrm>
            <a:off x="8046720" y="1737360"/>
            <a:ext cx="3519720" cy="159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8247960" y="1901880"/>
            <a:ext cx="31172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be680f"/>
                </a:solidFill>
                <a:latin typeface="Aptos"/>
              </a:rPr>
              <a:t>MODIFY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8247960" y="2395800"/>
            <a:ext cx="311724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63143"/>
                </a:solidFill>
                <a:latin typeface="Aptos"/>
              </a:rPr>
              <a:t>Pass traffic through and transform requests and/or responses via middleware.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Rounded Rectangle 14"/>
          <p:cNvSpPr/>
          <p:nvPr/>
        </p:nvSpPr>
        <p:spPr>
          <a:xfrm>
            <a:off x="620280" y="4163400"/>
            <a:ext cx="351972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15"/>
          <p:cNvSpPr/>
          <p:nvPr/>
        </p:nvSpPr>
        <p:spPr>
          <a:xfrm>
            <a:off x="821520" y="4327920"/>
            <a:ext cx="31172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1b7d52"/>
                </a:solidFill>
                <a:latin typeface="Aptos"/>
              </a:rPr>
              <a:t>SPY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6"/>
          <p:cNvSpPr/>
          <p:nvPr/>
        </p:nvSpPr>
        <p:spPr>
          <a:xfrm>
            <a:off x="821520" y="4821840"/>
            <a:ext cx="311724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Inspect traffic or compare observed behavior with a baseline.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17"/>
          <p:cNvSpPr/>
          <p:nvPr/>
        </p:nvSpPr>
        <p:spPr>
          <a:xfrm>
            <a:off x="4320000" y="4193640"/>
            <a:ext cx="351972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TextBox 18"/>
          <p:cNvSpPr/>
          <p:nvPr/>
        </p:nvSpPr>
        <p:spPr>
          <a:xfrm>
            <a:off x="4521240" y="4358160"/>
            <a:ext cx="31172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008996"/>
                </a:solidFill>
                <a:latin typeface="Aptos"/>
              </a:rPr>
              <a:t>SYNTHESIZE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19"/>
          <p:cNvSpPr/>
          <p:nvPr/>
        </p:nvSpPr>
        <p:spPr>
          <a:xfrm>
            <a:off x="4521240" y="4852080"/>
            <a:ext cx="31172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Create responses dynamically, often using middleware.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21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22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04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ounded Rectangle 6"/>
          <p:cNvSpPr/>
          <p:nvPr/>
        </p:nvSpPr>
        <p:spPr>
          <a:xfrm>
            <a:off x="8100000" y="4163400"/>
            <a:ext cx="3519720" cy="1416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37"/>
          <p:cNvSpPr/>
          <p:nvPr/>
        </p:nvSpPr>
        <p:spPr>
          <a:xfrm>
            <a:off x="8301240" y="4327920"/>
            <a:ext cx="31172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1b7d52"/>
                </a:solidFill>
                <a:latin typeface="Aptos"/>
              </a:rPr>
              <a:t>DIFF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38"/>
          <p:cNvSpPr/>
          <p:nvPr/>
        </p:nvSpPr>
        <p:spPr>
          <a:xfrm>
            <a:off x="8301240" y="4821840"/>
            <a:ext cx="3117240" cy="72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Inspect traffic or compare observed behavior with a baseline.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36"/>
          <p:cNvSpPr/>
          <p:nvPr/>
        </p:nvSpPr>
        <p:spPr>
          <a:xfrm>
            <a:off x="594360" y="658440"/>
            <a:ext cx="10880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263143"/>
                </a:solidFill>
                <a:latin typeface="Aptos"/>
              </a:rPr>
              <a:t>Modify Mode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3"/>
          <p:cNvSpPr/>
          <p:nvPr/>
        </p:nvSpPr>
        <p:spPr>
          <a:xfrm>
            <a:off x="594360" y="1417320"/>
            <a:ext cx="10972080" cy="22320"/>
          </a:xfrm>
          <a:prstGeom prst="rect">
            <a:avLst/>
          </a:prstGeom>
          <a:solidFill>
            <a:srgbClr val="008996"/>
          </a:solidFill>
          <a:ln>
            <a:solidFill>
              <a:srgbClr val="3465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47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48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05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1"/>
          <a:stretch/>
        </p:blipFill>
        <p:spPr>
          <a:xfrm>
            <a:off x="2700000" y="1620000"/>
            <a:ext cx="6888600" cy="479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"/>
          <p:cNvSpPr/>
          <p:nvPr/>
        </p:nvSpPr>
        <p:spPr>
          <a:xfrm>
            <a:off x="594360" y="411480"/>
            <a:ext cx="108810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3000" spc="-1" strike="noStrike">
                <a:solidFill>
                  <a:srgbClr val="1c2a44"/>
                </a:solidFill>
                <a:latin typeface="Aptos"/>
              </a:rPr>
              <a:t>How Hoverfly selects a response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Rectangle 2"/>
          <p:cNvSpPr/>
          <p:nvPr/>
        </p:nvSpPr>
        <p:spPr>
          <a:xfrm>
            <a:off x="594360" y="1234440"/>
            <a:ext cx="10972440" cy="22680"/>
          </a:xfrm>
          <a:prstGeom prst="rect">
            <a:avLst/>
          </a:prstGeom>
          <a:solidFill>
            <a:srgbClr val="008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777240" y="1554480"/>
            <a:ext cx="1042380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Rounded Rectangle 15"/>
          <p:cNvSpPr/>
          <p:nvPr/>
        </p:nvSpPr>
        <p:spPr>
          <a:xfrm>
            <a:off x="3240000" y="4860000"/>
            <a:ext cx="4983120" cy="1508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16"/>
          <p:cNvSpPr/>
          <p:nvPr/>
        </p:nvSpPr>
        <p:spPr>
          <a:xfrm>
            <a:off x="3404520" y="4988160"/>
            <a:ext cx="465408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</a:pPr>
            <a:r>
              <a:rPr b="1" lang="pt-BR" sz="1700" spc="-1" strike="noStrike">
                <a:solidFill>
                  <a:srgbClr val="008996"/>
                </a:solidFill>
                <a:latin typeface="Aptos"/>
              </a:rPr>
              <a:t>WINNER: PAIR 3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17"/>
          <p:cNvSpPr/>
          <p:nvPr/>
        </p:nvSpPr>
        <p:spPr>
          <a:xfrm>
            <a:off x="3404520" y="5362920"/>
            <a:ext cx="465408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1600" spc="-1" strike="noStrike">
                <a:solidFill>
                  <a:srgbClr val="263143"/>
                </a:solidFill>
                <a:latin typeface="Aptos"/>
              </a:rPr>
              <a:t>Both configured matchers succeed, giving it the higher score. Hoverfly returns Pair 3’s associated response.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23"/>
          <p:cNvSpPr/>
          <p:nvPr/>
        </p:nvSpPr>
        <p:spPr>
          <a:xfrm>
            <a:off x="594360" y="6537960"/>
            <a:ext cx="731484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pt-BR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4"/>
          <p:cNvSpPr/>
          <p:nvPr/>
        </p:nvSpPr>
        <p:spPr>
          <a:xfrm>
            <a:off x="10972800" y="6510600"/>
            <a:ext cx="54828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r">
              <a:lnSpc>
                <a:spcPct val="100000"/>
              </a:lnSpc>
            </a:pPr>
            <a:r>
              <a:rPr b="1" lang="pt-BR" sz="1000" spc="-1" strike="noStrike">
                <a:solidFill>
                  <a:srgbClr val="5e6c81"/>
                </a:solidFill>
                <a:latin typeface="Aptos"/>
              </a:rPr>
              <a:t>06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4500000" y="3240000"/>
            <a:ext cx="6781320" cy="1514160"/>
          </a:xfrm>
          <a:prstGeom prst="rect">
            <a:avLst/>
          </a:prstGeom>
          <a:ln w="0">
            <a:noFill/>
          </a:ln>
        </p:spPr>
      </p:pic>
      <p:pic>
        <p:nvPicPr>
          <p:cNvPr id="127" name="" descr=""/>
          <p:cNvPicPr/>
          <p:nvPr/>
        </p:nvPicPr>
        <p:blipFill>
          <a:blip r:embed="rId2"/>
          <a:stretch/>
        </p:blipFill>
        <p:spPr>
          <a:xfrm>
            <a:off x="4419720" y="1620000"/>
            <a:ext cx="6781320" cy="1514160"/>
          </a:xfrm>
          <a:prstGeom prst="rect">
            <a:avLst/>
          </a:prstGeom>
          <a:ln w="0">
            <a:noFill/>
          </a:ln>
        </p:spPr>
      </p:pic>
      <p:pic>
        <p:nvPicPr>
          <p:cNvPr id="128" name="" descr=""/>
          <p:cNvPicPr/>
          <p:nvPr/>
        </p:nvPicPr>
        <p:blipFill>
          <a:blip r:embed="rId3"/>
          <a:stretch/>
        </p:blipFill>
        <p:spPr>
          <a:xfrm>
            <a:off x="720000" y="2352600"/>
            <a:ext cx="3105000" cy="1607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4"/>
          <p:cNvSpPr/>
          <p:nvPr/>
        </p:nvSpPr>
        <p:spPr>
          <a:xfrm>
            <a:off x="594360" y="292680"/>
            <a:ext cx="804600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08996"/>
                </a:solidFill>
                <a:latin typeface="Aptos"/>
              </a:rPr>
              <a:t>04 / TEST INTEGRATION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23"/>
          <p:cNvSpPr/>
          <p:nvPr/>
        </p:nvSpPr>
        <p:spPr>
          <a:xfrm>
            <a:off x="594360" y="658440"/>
            <a:ext cx="10880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263143"/>
                </a:solidFill>
                <a:latin typeface="Aptos"/>
              </a:rPr>
              <a:t>JUnit 5 makes Hoverfly part of the test lifecycle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4"/>
          <p:cNvSpPr/>
          <p:nvPr/>
        </p:nvSpPr>
        <p:spPr>
          <a:xfrm>
            <a:off x="10515600" y="320040"/>
            <a:ext cx="1096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5e6c81"/>
                </a:solidFill>
                <a:latin typeface="Aptos"/>
              </a:rPr>
              <a:t>0:55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1"/>
          <p:cNvSpPr/>
          <p:nvPr/>
        </p:nvSpPr>
        <p:spPr>
          <a:xfrm>
            <a:off x="594360" y="1417320"/>
            <a:ext cx="10972080" cy="22320"/>
          </a:xfrm>
          <a:prstGeom prst="rect">
            <a:avLst/>
          </a:prstGeom>
          <a:solidFill>
            <a:srgbClr val="008996"/>
          </a:solidFill>
          <a:ln>
            <a:solidFill>
              <a:srgbClr val="3465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ounded Rectangle 1"/>
          <p:cNvSpPr/>
          <p:nvPr/>
        </p:nvSpPr>
        <p:spPr>
          <a:xfrm>
            <a:off x="685800" y="1783080"/>
            <a:ext cx="329112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25"/>
          <p:cNvSpPr/>
          <p:nvPr/>
        </p:nvSpPr>
        <p:spPr>
          <a:xfrm>
            <a:off x="887040" y="1947600"/>
            <a:ext cx="28886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008996"/>
                </a:solidFill>
                <a:latin typeface="Aptos"/>
              </a:rPr>
              <a:t>1  Configure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26"/>
          <p:cNvSpPr/>
          <p:nvPr/>
        </p:nvSpPr>
        <p:spPr>
          <a:xfrm>
            <a:off x="887040" y="2441520"/>
            <a:ext cx="288864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Register HoverflyExtension and select the mode.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ounded Rectangle 2"/>
          <p:cNvSpPr/>
          <p:nvPr/>
        </p:nvSpPr>
        <p:spPr>
          <a:xfrm>
            <a:off x="4434840" y="1783080"/>
            <a:ext cx="329112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TextBox 27"/>
          <p:cNvSpPr/>
          <p:nvPr/>
        </p:nvSpPr>
        <p:spPr>
          <a:xfrm>
            <a:off x="4636080" y="1947600"/>
            <a:ext cx="28886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6f4cbe"/>
                </a:solidFill>
                <a:latin typeface="Aptos"/>
              </a:rPr>
              <a:t>2  Send request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28"/>
          <p:cNvSpPr/>
          <p:nvPr/>
        </p:nvSpPr>
        <p:spPr>
          <a:xfrm>
            <a:off x="4636080" y="2441520"/>
            <a:ext cx="2888640" cy="8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Your Spring HTTP client calls the dependency as usual.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ounded Rectangle 3"/>
          <p:cNvSpPr/>
          <p:nvPr/>
        </p:nvSpPr>
        <p:spPr>
          <a:xfrm>
            <a:off x="8183880" y="1783080"/>
            <a:ext cx="329112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29"/>
          <p:cNvSpPr/>
          <p:nvPr/>
        </p:nvSpPr>
        <p:spPr>
          <a:xfrm>
            <a:off x="8385120" y="1947600"/>
            <a:ext cx="28886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1b7d52"/>
                </a:solidFill>
                <a:latin typeface="Aptos"/>
              </a:rPr>
              <a:t>3  Assert behavior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0"/>
          <p:cNvSpPr/>
          <p:nvPr/>
        </p:nvSpPr>
        <p:spPr>
          <a:xfrm>
            <a:off x="8385120" y="2441520"/>
            <a:ext cx="2888640" cy="8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Verify the application’s result, independent of accidental API changes.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31"/>
          <p:cNvSpPr/>
          <p:nvPr/>
        </p:nvSpPr>
        <p:spPr>
          <a:xfrm>
            <a:off x="868680" y="4160520"/>
            <a:ext cx="10514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08996"/>
                </a:solidFill>
                <a:latin typeface="Aptos"/>
              </a:rPr>
              <a:t>Typical test flow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ounded Rectangle 4"/>
          <p:cNvSpPr/>
          <p:nvPr/>
        </p:nvSpPr>
        <p:spPr>
          <a:xfrm>
            <a:off x="868680" y="4572000"/>
            <a:ext cx="6765840" cy="1142280"/>
          </a:xfrm>
          <a:prstGeom prst="roundRect">
            <a:avLst>
              <a:gd name="adj" fmla="val 16667"/>
            </a:avLst>
          </a:prstGeom>
          <a:solidFill>
            <a:srgbClr val="eff3f9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32"/>
          <p:cNvSpPr/>
          <p:nvPr/>
        </p:nvSpPr>
        <p:spPr>
          <a:xfrm>
            <a:off x="1078920" y="4709160"/>
            <a:ext cx="6308640" cy="11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1b7d52"/>
                </a:solidFill>
                <a:latin typeface="Consolas"/>
              </a:rPr>
              <a:t>@ExtendWith(HoverflyExtension.class)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1b7d52"/>
                </a:solidFill>
                <a:latin typeface="Consolas"/>
              </a:rPr>
              <a:t>class CurrencyClientTest {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1b7d52"/>
                </a:solidFill>
                <a:latin typeface="Consolas"/>
              </a:rPr>
              <a:t>    </a:t>
            </a:r>
            <a:r>
              <a:rPr b="0" lang="en-US" sz="1400" spc="-1" strike="noStrike">
                <a:solidFill>
                  <a:srgbClr val="1b7d52"/>
                </a:solidFill>
                <a:latin typeface="Consolas"/>
              </a:rPr>
              <a:t>// Configure Hoverfly mode and middleware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1b7d52"/>
                </a:solidFill>
                <a:latin typeface="Consolas"/>
              </a:rPr>
              <a:t>    </a:t>
            </a:r>
            <a:r>
              <a:rPr b="0" lang="en-US" sz="1400" spc="-1" strike="noStrike">
                <a:solidFill>
                  <a:srgbClr val="1b7d52"/>
                </a:solidFill>
                <a:latin typeface="Consolas"/>
              </a:rPr>
              <a:t>// Exercise the Spring client; assert the result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b7d52"/>
                </a:solidFill>
                <a:latin typeface="Consolas"/>
              </a:rPr>
              <a:t>}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33"/>
          <p:cNvSpPr/>
          <p:nvPr/>
        </p:nvSpPr>
        <p:spPr>
          <a:xfrm>
            <a:off x="8046720" y="4663440"/>
            <a:ext cx="319968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5e6c81"/>
                </a:solidFill>
                <a:latin typeface="Aptos"/>
              </a:rPr>
              <a:t>The JUnit 5 extension starts/stops Hoverfly and resets state between tests.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34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35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05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Box 2"/>
          <p:cNvSpPr/>
          <p:nvPr/>
        </p:nvSpPr>
        <p:spPr>
          <a:xfrm>
            <a:off x="594360" y="658440"/>
            <a:ext cx="10880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263143"/>
                </a:solidFill>
                <a:latin typeface="Aptos"/>
              </a:rPr>
              <a:t>Middleware adds behavior beyond static mocks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10515600" y="320040"/>
            <a:ext cx="1096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5e6c81"/>
                </a:solidFill>
                <a:latin typeface="Aptos"/>
              </a:rPr>
              <a:t>0:55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ectangle 4"/>
          <p:cNvSpPr/>
          <p:nvPr/>
        </p:nvSpPr>
        <p:spPr>
          <a:xfrm>
            <a:off x="594360" y="1417320"/>
            <a:ext cx="10972080" cy="22320"/>
          </a:xfrm>
          <a:prstGeom prst="rect">
            <a:avLst/>
          </a:prstGeom>
          <a:solidFill>
            <a:srgbClr val="008996"/>
          </a:solidFill>
          <a:ln>
            <a:solidFill>
              <a:srgbClr val="3465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731520" y="1783080"/>
            <a:ext cx="484560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263143"/>
                </a:solidFill>
                <a:latin typeface="Aptos"/>
              </a:rPr>
              <a:t>A programmable transformation layer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6"/>
          <p:cNvSpPr/>
          <p:nvPr/>
        </p:nvSpPr>
        <p:spPr>
          <a:xfrm>
            <a:off x="777240" y="2560320"/>
            <a:ext cx="4662720" cy="25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1836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Written in a language available in the environment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Receives and returns Hoverfly’s middleware JSON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Can alter payloads, status codes, headers or latency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In MODIFY mode, can affect requests and responses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7"/>
          <p:cNvSpPr/>
          <p:nvPr/>
        </p:nvSpPr>
        <p:spPr>
          <a:xfrm>
            <a:off x="5852160" y="1828800"/>
            <a:ext cx="210240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8"/>
          <p:cNvSpPr/>
          <p:nvPr/>
        </p:nvSpPr>
        <p:spPr>
          <a:xfrm>
            <a:off x="6053400" y="1993320"/>
            <a:ext cx="169992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be680f"/>
                </a:solidFill>
                <a:latin typeface="Aptos"/>
              </a:rPr>
              <a:t>Upstream API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9"/>
          <p:cNvSpPr/>
          <p:nvPr/>
        </p:nvSpPr>
        <p:spPr>
          <a:xfrm>
            <a:off x="6053400" y="2487240"/>
            <a:ext cx="169992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63143"/>
                </a:solidFill>
                <a:latin typeface="Aptos"/>
              </a:rPr>
              <a:t>JSON response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Rounded Rectangle 10"/>
          <p:cNvSpPr/>
          <p:nvPr/>
        </p:nvSpPr>
        <p:spPr>
          <a:xfrm>
            <a:off x="8641080" y="182880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11"/>
          <p:cNvSpPr/>
          <p:nvPr/>
        </p:nvSpPr>
        <p:spPr>
          <a:xfrm>
            <a:off x="8842320" y="1993320"/>
            <a:ext cx="206568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008996"/>
                </a:solidFill>
                <a:latin typeface="Aptos"/>
              </a:rPr>
              <a:t>Python middleware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12"/>
          <p:cNvSpPr/>
          <p:nvPr/>
        </p:nvSpPr>
        <p:spPr>
          <a:xfrm>
            <a:off x="8842320" y="2487240"/>
            <a:ext cx="20656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Decode → change → encode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9" name="Connector 13"/>
          <p:cNvCxnSpPr/>
          <p:nvPr/>
        </p:nvCxnSpPr>
        <p:spPr>
          <a:xfrm>
            <a:off x="7954920" y="2486880"/>
            <a:ext cx="686880" cy="720"/>
          </a:xfrm>
          <a:prstGeom prst="straightConnector1">
            <a:avLst/>
          </a:prstGeom>
          <a:ln w="31750">
            <a:solidFill>
              <a:srgbClr val="6f4cbe"/>
            </a:solidFill>
            <a:round/>
          </a:ln>
        </p:spPr>
      </p:cxnSp>
      <p:sp>
        <p:nvSpPr>
          <p:cNvPr id="160" name="TextBox 14"/>
          <p:cNvSpPr/>
          <p:nvPr/>
        </p:nvSpPr>
        <p:spPr>
          <a:xfrm>
            <a:off x="5897880" y="3657600"/>
            <a:ext cx="521136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6f4cbe"/>
                </a:solidFill>
                <a:latin typeface="Aptos"/>
              </a:rPr>
              <a:t>Implementation detail from this POC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15"/>
          <p:cNvSpPr/>
          <p:nvPr/>
        </p:nvSpPr>
        <p:spPr>
          <a:xfrm>
            <a:off x="5897880" y="4114800"/>
            <a:ext cx="530280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63143"/>
                </a:solidFill>
                <a:latin typeface="Aptos"/>
              </a:rPr>
              <a:t>The external response arrived gzip-compressed and Base64-encoded. Middleware must handle that representation before editing JSON; requesting identity encoding can simplify the path.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16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7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Box 2"/>
          <p:cNvSpPr/>
          <p:nvPr/>
        </p:nvSpPr>
        <p:spPr>
          <a:xfrm>
            <a:off x="594360" y="658440"/>
            <a:ext cx="10880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263143"/>
                </a:solidFill>
                <a:latin typeface="Aptos"/>
              </a:rPr>
              <a:t>Where Hoverfly fits — and what to watch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4"/>
          <p:cNvSpPr/>
          <p:nvPr/>
        </p:nvSpPr>
        <p:spPr>
          <a:xfrm>
            <a:off x="594360" y="1417320"/>
            <a:ext cx="10972080" cy="22320"/>
          </a:xfrm>
          <a:prstGeom prst="rect">
            <a:avLst/>
          </a:prstGeom>
          <a:solidFill>
            <a:srgbClr val="008996"/>
          </a:solidFill>
          <a:ln>
            <a:solidFill>
              <a:srgbClr val="3465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Rounded Rectangle 5"/>
          <p:cNvSpPr/>
          <p:nvPr/>
        </p:nvSpPr>
        <p:spPr>
          <a:xfrm>
            <a:off x="3600000" y="1980000"/>
            <a:ext cx="521136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3801240" y="2144520"/>
            <a:ext cx="4808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1b7d52"/>
                </a:solidFill>
                <a:latin typeface="Aptos"/>
              </a:rPr>
              <a:t>Good fit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3801240" y="2638440"/>
            <a:ext cx="4808880" cy="8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Integration tests with HTTP dependencies; repeatable regression cases; controlled failures and response variants.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Rounded Rectangle 8"/>
          <p:cNvSpPr/>
          <p:nvPr/>
        </p:nvSpPr>
        <p:spPr>
          <a:xfrm>
            <a:off x="3600000" y="4291920"/>
            <a:ext cx="5211360" cy="182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2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TextBox 9"/>
          <p:cNvSpPr/>
          <p:nvPr/>
        </p:nvSpPr>
        <p:spPr>
          <a:xfrm>
            <a:off x="3801240" y="4456440"/>
            <a:ext cx="48088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be680f"/>
                </a:solidFill>
                <a:latin typeface="Aptos"/>
              </a:rPr>
              <a:t>Not a replacement for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10"/>
          <p:cNvSpPr/>
          <p:nvPr/>
        </p:nvSpPr>
        <p:spPr>
          <a:xfrm>
            <a:off x="3801240" y="4950360"/>
            <a:ext cx="480888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263143"/>
                </a:solidFill>
                <a:latin typeface="Aptos"/>
              </a:rPr>
              <a:t>All end-to-end tests, contract test, or unit test where a local mock is sufficient.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13"/>
          <p:cNvSpPr/>
          <p:nvPr/>
        </p:nvSpPr>
        <p:spPr>
          <a:xfrm>
            <a:off x="594360" y="6528960"/>
            <a:ext cx="73144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5e6c81"/>
                </a:solidFill>
                <a:latin typeface="Aptos"/>
              </a:rPr>
              <a:t>HOVERFLY  /  API SIMULATION FOR TESTING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14"/>
          <p:cNvSpPr/>
          <p:nvPr/>
        </p:nvSpPr>
        <p:spPr>
          <a:xfrm>
            <a:off x="10972800" y="6492240"/>
            <a:ext cx="5479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e6c81"/>
                </a:solidFill>
                <a:latin typeface="Aptos"/>
              </a:rPr>
              <a:t>07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2026-10-09T19:56:38Z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